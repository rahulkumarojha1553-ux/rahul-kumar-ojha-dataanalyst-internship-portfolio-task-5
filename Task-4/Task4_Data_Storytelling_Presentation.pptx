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Task 4 – Data Storytelling &amp; Statistical Validation</a:t>
            </a:r>
          </a:p>
          <a:p>
            <a:pPr>
              <a:defRPr sz="1800"/>
            </a:pPr>
            <a:r>
              <a:t>ApexPlanet Software Pvt. Ltd.</a:t>
            </a:r>
          </a:p>
          <a:p>
            <a:pPr>
              <a:defRPr sz="1800"/>
            </a:pPr>
            <a:r>
              <a:t>Rahul Kumar Ojha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Synthesize Tasks 1–3 into a clear business story and validate an important churn pattern statistically.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Goal: identify risk and convert evidence into retention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Total Customers: 7,043</a:t>
            </a:r>
          </a:p>
          <a:p>
            <a:pPr>
              <a:defRPr sz="1800"/>
            </a:pPr>
            <a:r>
              <a:t>Churned Customers: 1,869</a:t>
            </a:r>
          </a:p>
          <a:p>
            <a:pPr>
              <a:defRPr sz="1800"/>
            </a:pPr>
            <a:r>
              <a:t>Churn Rate: 26.54%</a:t>
            </a:r>
          </a:p>
          <a:p>
            <a:pPr>
              <a:defRPr sz="1800"/>
            </a:pPr>
            <a:r>
              <a:t>Average Monthly Charges: 64.76</a:t>
            </a:r>
          </a:p>
          <a:p>
            <a:pPr>
              <a:defRPr sz="1800"/>
            </a:pPr>
            <a:r>
              <a:t>Average Tenure: 32.37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Churn varies across contract types.</a:t>
            </a:r>
          </a:p>
          <a:p>
            <a:pPr>
              <a:defRPr sz="1800"/>
            </a:pPr>
            <a:r>
              <a:t>• Tenure is an important retention dimension.</a:t>
            </a:r>
          </a:p>
          <a:p>
            <a:pPr>
              <a:defRPr sz="1800"/>
            </a:pPr>
            <a:r>
              <a:t>• Monthly Charges provide a customer-value/risk lens.</a:t>
            </a:r>
          </a:p>
          <a:p>
            <a:pPr>
              <a:defRPr sz="1800"/>
            </a:pPr>
            <a:r>
              <a:t>• Risk segmentation can prioritize retention actions.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Highest churn contract: Month-to-month (42.71%)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H0: Mean Monthly Charges are equal for churned and retained customers.</a:t>
            </a:r>
          </a:p>
          <a:p>
            <a:pPr>
              <a:defRPr sz="1800"/>
            </a:pPr>
            <a:r>
              <a:t>H1: Mean Monthly Charges are different.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Test: Welch independent two-sample t-test</a:t>
            </a:r>
          </a:p>
          <a:p>
            <a:pPr>
              <a:defRPr sz="1800"/>
            </a:pPr>
            <a:r>
              <a:t>Significance level: α = 0.05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Churned mean: 74.44</a:t>
            </a:r>
          </a:p>
          <a:p>
            <a:pPr>
              <a:defRPr sz="1800"/>
            </a:pPr>
            <a:r>
              <a:t>Retained mean: 61.27</a:t>
            </a:r>
          </a:p>
          <a:p>
            <a:pPr>
              <a:defRPr sz="1800"/>
            </a:pPr>
            <a:r>
              <a:t>Mean difference: 13.18</a:t>
            </a:r>
          </a:p>
          <a:p>
            <a:pPr>
              <a:defRPr sz="1800"/>
            </a:pPr>
            <a:r>
              <a:t>t-statistic: 18.4075</a:t>
            </a:r>
          </a:p>
          <a:p>
            <a:pPr>
              <a:defRPr sz="1800"/>
            </a:pPr>
            <a:r>
              <a:t>p-value: 8.592e-73</a:t>
            </a:r>
          </a:p>
          <a:p>
            <a:pPr>
              <a:defRPr sz="1800"/>
            </a:pPr>
            <a:r>
              <a:t>95% CI: (11.77, 14.58)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Reject H0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p-value is below 0.05.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Conclusion: Monthly Charges differ significantly between churned and retained customers.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Validation – Contract 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Chi-square statistic: 1184.5966</a:t>
            </a:r>
          </a:p>
          <a:p>
            <a:pPr>
              <a:defRPr sz="1800"/>
            </a:pPr>
            <a:r>
              <a:t>p-value: 5.863e-258</a:t>
            </a:r>
          </a:p>
          <a:p>
            <a:pPr>
              <a:defRPr sz="1800"/>
            </a:pPr>
            <a:r>
              <a:t>Degrees of freedom: 2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Decision: Reject H0 – churn and contract type are statistically associated.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Prioritize high-churn contract groups.</a:t>
            </a:r>
          </a:p>
          <a:p>
            <a:pPr>
              <a:defRPr sz="1800"/>
            </a:pPr>
            <a:r>
              <a:t>2. Review pricing/service experience for higher-charge customers.</a:t>
            </a:r>
          </a:p>
          <a:p>
            <a:pPr>
              <a:defRPr sz="1800"/>
            </a:pPr>
            <a:r>
              <a:t>3. Strengthen early-tenure onboarding.</a:t>
            </a:r>
          </a:p>
          <a:p>
            <a:pPr>
              <a:defRPr sz="1800"/>
            </a:pPr>
            <a:r>
              <a:t>4. Monitor churn KPIs and segments in Power BI.</a:t>
            </a:r>
          </a:p>
          <a:p>
            <a:pPr>
              <a:defRPr sz="1800"/>
            </a:pPr>
            <a:r>
              <a:t>5. Test retention actions with controlled experiments.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IDENTIFY → VALIDATE → PRIORITIZE → INTERVENE → MEASURE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Turn analytical evidence into measurable retention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Tasks 1–3 created the data foundation, EDA, KPIs and segmentation.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Task 4 adds statistical validation and a stakeholder-ready business narrative.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